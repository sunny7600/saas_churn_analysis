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ny Yadav" userId="7ffbc6f805c2d2c2" providerId="LiveId" clId="{B6B2B67B-CBFB-48F2-BBA7-28F286D6AD1E}"/>
    <pc:docChg chg="modSld">
      <pc:chgData name="Sunny Yadav" userId="7ffbc6f805c2d2c2" providerId="LiveId" clId="{B6B2B67B-CBFB-48F2-BBA7-28F286D6AD1E}" dt="2026-10-25T14:51:10.642" v="25" actId="1076"/>
      <pc:docMkLst>
        <pc:docMk/>
      </pc:docMkLst>
      <pc:sldChg chg="modSp mod">
        <pc:chgData name="Sunny Yadav" userId="7ffbc6f805c2d2c2" providerId="LiveId" clId="{B6B2B67B-CBFB-48F2-BBA7-28F286D6AD1E}" dt="2026-10-25T14:47:32.413" v="18" actId="1035"/>
        <pc:sldMkLst>
          <pc:docMk/>
          <pc:sldMk cId="0" sldId="256"/>
        </pc:sldMkLst>
        <pc:spChg chg="mod">
          <ac:chgData name="Sunny Yadav" userId="7ffbc6f805c2d2c2" providerId="LiveId" clId="{B6B2B67B-CBFB-48F2-BBA7-28F286D6AD1E}" dt="2026-10-25T14:47:32.413" v="18" actId="1035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Sunny Yadav" userId="7ffbc6f805c2d2c2" providerId="LiveId" clId="{B6B2B67B-CBFB-48F2-BBA7-28F286D6AD1E}" dt="2026-10-25T14:51:10.642" v="25" actId="1076"/>
        <pc:sldMkLst>
          <pc:docMk/>
          <pc:sldMk cId="0" sldId="270"/>
        </pc:sldMkLst>
        <pc:spChg chg="mod">
          <ac:chgData name="Sunny Yadav" userId="7ffbc6f805c2d2c2" providerId="LiveId" clId="{B6B2B67B-CBFB-48F2-BBA7-28F286D6AD1E}" dt="2026-10-25T14:50:43.549" v="22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Sunny Yadav" userId="7ffbc6f805c2d2c2" providerId="LiveId" clId="{B6B2B67B-CBFB-48F2-BBA7-28F286D6AD1E}" dt="2026-10-25T14:50:58.988" v="24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Sunny Yadav" userId="7ffbc6f805c2d2c2" providerId="LiveId" clId="{B6B2B67B-CBFB-48F2-BBA7-28F286D6AD1E}" dt="2026-10-25T14:51:10.642" v="25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unny Yadav" userId="7ffbc6f805c2d2c2" providerId="LiveId" clId="{B6B2B67B-CBFB-48F2-BBA7-28F286D6AD1E}" dt="2026-10-25T14:50:49.864" v="23" actId="20577"/>
          <ac:spMkLst>
            <pc:docMk/>
            <pc:sldMk cId="0" sldId="270"/>
            <ac:spMk id="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churned customers (%)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Not Recorded</c:v>
                </c:pt>
                <c:pt idx="1">
                  <c:v>Payment Failure</c:v>
                </c:pt>
                <c:pt idx="2">
                  <c:v>Business Closed</c:v>
                </c:pt>
                <c:pt idx="3">
                  <c:v>Poor Support</c:v>
                </c:pt>
                <c:pt idx="4">
                  <c:v>Missing Features</c:v>
                </c:pt>
                <c:pt idx="5">
                  <c:v>Switched to Competitor</c:v>
                </c:pt>
                <c:pt idx="6">
                  <c:v>Pricing Too High</c:v>
                </c:pt>
                <c:pt idx="7">
                  <c:v>Low Product Usage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</c:v>
                </c:pt>
                <c:pt idx="1">
                  <c:v>3.5</c:v>
                </c:pt>
                <c:pt idx="2">
                  <c:v>3.6</c:v>
                </c:pt>
                <c:pt idx="3">
                  <c:v>11.4</c:v>
                </c:pt>
                <c:pt idx="4">
                  <c:v>11.6</c:v>
                </c:pt>
                <c:pt idx="5">
                  <c:v>13.3</c:v>
                </c:pt>
                <c:pt idx="6">
                  <c:v>22.7</c:v>
                </c:pt>
                <c:pt idx="7">
                  <c:v>32.4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CE-432C-A52D-5F7E9CAC6F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18.600000000000001</c:v>
                </c:pt>
                <c:pt idx="1">
                  <c:v>52.4</c:v>
                </c:pt>
                <c:pt idx="2">
                  <c:v>37.799999999999997</c:v>
                </c:pt>
                <c:pt idx="3">
                  <c:v>25.2</c:v>
                </c:pt>
                <c:pt idx="4">
                  <c:v>17</c:v>
                </c:pt>
                <c:pt idx="5">
                  <c:v>10.3</c:v>
                </c:pt>
                <c:pt idx="6">
                  <c:v>16.2</c:v>
                </c:pt>
                <c:pt idx="7">
                  <c:v>9.1</c:v>
                </c:pt>
                <c:pt idx="8">
                  <c:v>6.6</c:v>
                </c:pt>
                <c:pt idx="9">
                  <c:v>7.7</c:v>
                </c:pt>
                <c:pt idx="10">
                  <c:v>6.1</c:v>
                </c:pt>
                <c:pt idx="11">
                  <c:v>5.7</c:v>
                </c:pt>
                <c:pt idx="12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B1-48C3-A2AC-C62748E9B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5B6B7B"/>
                    </a:solidFill>
                    <a:latin typeface="Arial"/>
                  </a:rPr>
                  <a:t>Tenure (months)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3F-4E1E-9915-D1054F43AC52}"/>
              </c:ext>
            </c:extLst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3F-4E1E-9915-D1054F43AC5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completed</c:v>
                </c:pt>
                <c:pt idx="1">
                  <c:v>Completed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39.5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3F-4E1E-9915-D1054F43AC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01-42AA-8452-240717CC0BCF}"/>
              </c:ext>
            </c:extLst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01-42AA-8452-240717CC0BCF}"/>
              </c:ext>
            </c:extLst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01-42AA-8452-240717CC0BC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 tickets</c:v>
                </c:pt>
                <c:pt idx="1">
                  <c:v>1-3 tickets</c:v>
                </c:pt>
                <c:pt idx="2">
                  <c:v>4+ tickets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12.05</c:v>
                </c:pt>
                <c:pt idx="1">
                  <c:v>15.74</c:v>
                </c:pt>
                <c:pt idx="2">
                  <c:v>22.57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01-42AA-8452-240717CC0B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AD-48AD-85B9-88B807121978}"/>
              </c:ext>
            </c:extLst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AD-48AD-85B9-88B807121978}"/>
              </c:ext>
            </c:extLst>
          </c:dPt>
          <c:dPt>
            <c:idx val="2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AD-48AD-85B9-88B80712197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Pro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17.100000000000001</c:v>
                </c:pt>
                <c:pt idx="1">
                  <c:v>15.14</c:v>
                </c:pt>
                <c:pt idx="2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7AD-48AD-85B9-88B8071219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3D-4AA9-B5D9-275EB197C3BC}"/>
              </c:ext>
            </c:extLst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3D-4AA9-B5D9-275EB197C3BC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Monthly</c:v>
                </c:pt>
                <c:pt idx="1">
                  <c:v>Annual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17.48</c:v>
                </c:pt>
                <c:pt idx="1">
                  <c:v>10.210000000000001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3D-4AA9-B5D9-275EB197C3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B3-446C-A66C-3EC041AF3B22}"/>
              </c:ext>
            </c:extLst>
          </c:dPt>
          <c:dPt>
            <c:idx val="1"/>
            <c:invertIfNegative val="0"/>
            <c:bubble3D val="0"/>
            <c:spPr>
              <a:solidFill>
                <a:srgbClr val="E879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B3-446C-A66C-3EC041AF3B22}"/>
              </c:ext>
            </c:extLst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B3-446C-A66C-3EC041AF3B22}"/>
              </c:ext>
            </c:extLst>
          </c:dPt>
          <c:dPt>
            <c:idx val="3"/>
            <c:invertIfNegative val="0"/>
            <c:bubble3D val="0"/>
            <c:spPr>
              <a:solidFill>
                <a:srgbClr val="8BB17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B3-446C-A66C-3EC041AF3B22}"/>
              </c:ext>
            </c:extLst>
          </c:dPt>
          <c:dPt>
            <c:idx val="4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4B3-446C-A66C-3EC041AF3B2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1-10</c:v>
                </c:pt>
                <c:pt idx="1">
                  <c:v>11-50</c:v>
                </c:pt>
                <c:pt idx="2">
                  <c:v>51-200</c:v>
                </c:pt>
                <c:pt idx="3">
                  <c:v>201-1K</c:v>
                </c:pt>
                <c:pt idx="4">
                  <c:v>1K+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18.05</c:v>
                </c:pt>
                <c:pt idx="1">
                  <c:v>14.65</c:v>
                </c:pt>
                <c:pt idx="2">
                  <c:v>13.8</c:v>
                </c:pt>
                <c:pt idx="3">
                  <c:v>12.46</c:v>
                </c:pt>
                <c:pt idx="4">
                  <c:v>8.9600000000000009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B3-446C-A66C-3EC041AF3B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95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end-to-end churn project using Python, MySQL and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unny-yadav-180ba2227/" TargetMode="External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unny7600" TargetMode="External"/><Relationship Id="rId5" Type="http://schemas.openxmlformats.org/officeDocument/2006/relationships/image" Target="../media/image25.png"/><Relationship Id="rId4" Type="http://schemas.openxmlformats.org/officeDocument/2006/relationships/hyperlink" Target="mailto:ysunny7600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6550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Customer Churn Analysis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cancel, how much revenue it costs, and who is likely to leave next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MySQL  |  Power BI</a:t>
            </a:r>
            <a:endParaRPr lang="en-US" sz="1300" dirty="0"/>
          </a:p>
        </p:txBody>
      </p:sp>
      <p:sp>
        <p:nvSpPr>
          <p:cNvPr id="7" name="kpibox"/>
          <p:cNvSpPr/>
          <p:nvPr/>
        </p:nvSpPr>
        <p:spPr>
          <a:xfrm>
            <a:off x="6583680" y="822960"/>
            <a:ext cx="2103120" cy="3474720"/>
          </a:xfrm>
          <a:prstGeom prst="roundRect">
            <a:avLst>
              <a:gd name="adj" fmla="val 3478"/>
            </a:avLst>
          </a:prstGeom>
          <a:solidFill>
            <a:srgbClr val="17405F"/>
          </a:solidFill>
          <a:ln w="12700">
            <a:solidFill>
              <a:srgbClr val="1740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14.94%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10.51%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churn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$14.44M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lost</a:t>
            </a:r>
            <a:endParaRPr lang="en-US" sz="1200" dirty="0"/>
          </a:p>
        </p:txBody>
      </p:sp>
      <p:sp>
        <p:nvSpPr>
          <p:cNvPr id="1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problem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405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B2B SaaS company keeps acquiring new customers, but many cancel their paid subscriptions every month. The result is steady loss of Monthly Recurring Revenue (MRR).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54880" y="160020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610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600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main reasons customers cancel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754880" y="233172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610" y="24574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2331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usage, support and payment patterns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754880" y="30632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0610" y="31889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customers before they leave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754880" y="379476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0610" y="3920490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40680" y="3794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Customer Success team act early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Tools</a:t>
            </a:r>
            <a:endParaRPr lang="en-US" sz="2800" dirty="0"/>
          </a:p>
        </p:txBody>
      </p:sp>
      <p:sp>
        <p:nvSpPr>
          <p:cNvPr id="3" name="stat0"/>
          <p:cNvSpPr/>
          <p:nvPr/>
        </p:nvSpPr>
        <p:spPr>
          <a:xfrm>
            <a:off x="457200" y="10972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44,440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300" dirty="0"/>
          </a:p>
        </p:txBody>
      </p:sp>
      <p:sp>
        <p:nvSpPr>
          <p:cNvPr id="6" name="stat1"/>
          <p:cNvSpPr/>
          <p:nvPr/>
        </p:nvSpPr>
        <p:spPr>
          <a:xfrm>
            <a:off x="2560320" y="10972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43,912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300" dirty="0"/>
          </a:p>
        </p:txBody>
      </p:sp>
      <p:sp>
        <p:nvSpPr>
          <p:cNvPr id="9" name="stat2"/>
          <p:cNvSpPr/>
          <p:nvPr/>
        </p:nvSpPr>
        <p:spPr>
          <a:xfrm>
            <a:off x="4663440" y="10972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2" name="stat3"/>
          <p:cNvSpPr/>
          <p:nvPr/>
        </p:nvSpPr>
        <p:spPr>
          <a:xfrm>
            <a:off x="6766560" y="10972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period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514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customer: plan, industry, company size, seats, MRR, onboarding, logins, features used, support tickets, CSAT, failed payments, status and churn reason.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610" y="2640330"/>
            <a:ext cx="251460" cy="2514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4068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2770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0" y="317296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610" y="3298698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440680" y="3172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5440680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queries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754880" y="3831336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610" y="3957066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440680" y="3831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440680" y="4087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with Python</a:t>
            </a:r>
            <a:endParaRPr lang="en-US" sz="2800" dirty="0"/>
          </a:p>
        </p:txBody>
      </p:sp>
      <p:sp>
        <p:nvSpPr>
          <p:cNvPr id="3" name="step0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34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duplicate rows removed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270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44,440 to 44,000 rows</a:t>
            </a:r>
            <a:endParaRPr lang="en-US" sz="1200" dirty="0"/>
          </a:p>
        </p:txBody>
      </p:sp>
      <p:sp>
        <p:nvSpPr>
          <p:cNvPr id="8" name="step1"/>
          <p:cNvSpPr/>
          <p:nvPr/>
        </p:nvSpPr>
        <p:spPr>
          <a:xfrm>
            <a:off x="466344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34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standardised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15270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plan and payment labels fixed (USA, UK, UAE, UPI)</a:t>
            </a:r>
            <a:endParaRPr lang="en-US" sz="1200" dirty="0"/>
          </a:p>
        </p:txBody>
      </p:sp>
      <p:sp>
        <p:nvSpPr>
          <p:cNvPr id="13" name="step2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268605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27157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and channel set to Unknown; blank churn reasons set to Not Recorded</a:t>
            </a:r>
            <a:endParaRPr lang="en-US" sz="1200" dirty="0"/>
          </a:p>
        </p:txBody>
      </p:sp>
      <p:sp>
        <p:nvSpPr>
          <p:cNvPr id="18" name="step3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256032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268605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fixed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7157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formats parsed; 88 rows with churn before signup dropped</a:t>
            </a:r>
            <a:endParaRPr lang="en-US" sz="1200" dirty="0"/>
          </a:p>
        </p:txBody>
      </p:sp>
      <p:sp>
        <p:nvSpPr>
          <p:cNvPr id="23" name="step4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" y="387477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3611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Tenure_Months created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325880" y="39044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to churn date, or to 30 Nov 2025 for active customers</a:t>
            </a:r>
            <a:endParaRPr lang="en-US" sz="1200" dirty="0"/>
          </a:p>
        </p:txBody>
      </p:sp>
      <p:sp>
        <p:nvSpPr>
          <p:cNvPr id="28" name="step5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rgbClr val="5DB85C"/>
          </a:solidFill>
          <a:ln w="12700">
            <a:solidFill>
              <a:srgbClr val="5DB85C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2050" y="387477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32120" y="3611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532120" y="39044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43,912 unique customers, ready for SQL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</a:t>
            </a:r>
            <a:endParaRPr lang="en-US" sz="2800" dirty="0"/>
          </a:p>
        </p:txBody>
      </p:sp>
      <p:sp>
        <p:nvSpPr>
          <p:cNvPr id="3" name="kpi0"/>
          <p:cNvSpPr/>
          <p:nvPr/>
        </p:nvSpPr>
        <p:spPr>
          <a:xfrm>
            <a:off x="457200" y="118872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32588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43,912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7" name="kpi1"/>
          <p:cNvSpPr/>
          <p:nvPr/>
        </p:nvSpPr>
        <p:spPr>
          <a:xfrm>
            <a:off x="2121408" y="118872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132588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21408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14.94%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(6,559 customers)</a:t>
            </a:r>
            <a:endParaRPr lang="en-US" sz="1200" dirty="0"/>
          </a:p>
        </p:txBody>
      </p:sp>
      <p:sp>
        <p:nvSpPr>
          <p:cNvPr id="11" name="kpi2"/>
          <p:cNvSpPr/>
          <p:nvPr/>
        </p:nvSpPr>
        <p:spPr>
          <a:xfrm>
            <a:off x="3785616" y="118872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9976" y="1325880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$137.39M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831336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</a:t>
            </a:r>
            <a:endParaRPr lang="en-US" sz="1200" dirty="0"/>
          </a:p>
        </p:txBody>
      </p:sp>
      <p:sp>
        <p:nvSpPr>
          <p:cNvPr id="15" name="kpi3"/>
          <p:cNvSpPr/>
          <p:nvPr/>
        </p:nvSpPr>
        <p:spPr>
          <a:xfrm>
            <a:off x="5449824" y="118872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44184" y="132588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9824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$14.44M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95544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lost</a:t>
            </a:r>
            <a:endParaRPr lang="en-US" sz="1200" dirty="0"/>
          </a:p>
        </p:txBody>
      </p:sp>
      <p:sp>
        <p:nvSpPr>
          <p:cNvPr id="19" name="kpi4"/>
          <p:cNvSpPr/>
          <p:nvPr/>
        </p:nvSpPr>
        <p:spPr>
          <a:xfrm>
            <a:off x="7114032" y="118872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08392" y="132588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10.51%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churn rate</a:t>
            </a:r>
            <a:endParaRPr lang="en-US" sz="1200" dirty="0"/>
          </a:p>
        </p:txBody>
      </p:sp>
      <p:sp>
        <p:nvSpPr>
          <p:cNvPr id="23" name="takeaway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churn (10.51%) is lower than customer churn (14.94%), which means smaller accounts leave more often. Even so, $14.44M of monthly revenue is leaking and needs a retention focus.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Churn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"/>
          <p:cNvSpPr/>
          <p:nvPr/>
        </p:nvSpPr>
        <p:spPr>
          <a:xfrm>
            <a:off x="6035040" y="11887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73736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product usage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(2,123 customers) and </a:t>
            </a: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pricing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(1,491) together cause over 55% of cancellations.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gaps in product adoption and perceived value, not just price.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Tenure and Onboarding Are the Danger Zone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37160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tenure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52.35% in month 1 and falls to about 10% by month 5.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onboarding status</a:t>
            </a:r>
            <a:endParaRPr lang="en-US" sz="15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5394960" y="1371600"/>
          <a:ext cx="33832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ob"/>
          <p:cNvSpPr/>
          <p:nvPr/>
        </p:nvSpPr>
        <p:spPr>
          <a:xfrm>
            <a:off x="5486400" y="3520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23560" y="3611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5x higher churn without onboarding. This is the biggest controllable driver.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Features and Seat Usage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monthly logins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since last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utilisation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ins"/>
          <p:cNvSpPr/>
          <p:nvPr/>
        </p:nvSpPr>
        <p:spPr>
          <a:xfrm>
            <a:off x="5760720" y="118872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73736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users log in about half as often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 fewer features: weak adoption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is an early warning sign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seats (shelfware) make customers feel they overpay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Seats: churned accounts averaged 30.9 active of 56.6 purchased seats.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Experience and Satisfaction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support tickets (90 days)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4572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39496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vs Active</a:t>
            </a:r>
            <a:endParaRPr lang="en-US" sz="1500" dirty="0"/>
          </a:p>
        </p:txBody>
      </p:sp>
      <p:sp>
        <p:nvSpPr>
          <p:cNvPr id="7" name="sc0"/>
          <p:cNvSpPr/>
          <p:nvPr/>
        </p:nvSpPr>
        <p:spPr>
          <a:xfrm>
            <a:off x="5394960" y="141732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32120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score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2.85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3.43</a:t>
            </a:r>
            <a:endParaRPr lang="en-US" sz="2000" dirty="0"/>
          </a:p>
        </p:txBody>
      </p:sp>
      <p:sp>
        <p:nvSpPr>
          <p:cNvPr id="11" name="sc1"/>
          <p:cNvSpPr/>
          <p:nvPr/>
        </p:nvSpPr>
        <p:spPr>
          <a:xfrm>
            <a:off x="5394960" y="233172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32120" y="2404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2679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 hrs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2679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 hrs</a:t>
            </a:r>
            <a:endParaRPr lang="en-US" sz="2000" dirty="0"/>
          </a:p>
        </p:txBody>
      </p:sp>
      <p:sp>
        <p:nvSpPr>
          <p:cNvPr id="15" name="sc2"/>
          <p:cNvSpPr/>
          <p:nvPr/>
        </p:nvSpPr>
        <p:spPr>
          <a:xfrm>
            <a:off x="5394960" y="324612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32120" y="3319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per 90 days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3593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3593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4206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4206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Plan, Billing and Company Size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type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25880"/>
          <a:ext cx="2834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2918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cycle</a:t>
            </a:r>
            <a:endParaRPr lang="en-US" sz="14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3200400" y="1325880"/>
          <a:ext cx="2834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12648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</a:t>
            </a:r>
            <a:endParaRPr lang="en-US" sz="14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6035040" y="1325880"/>
          <a:ext cx="2834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eginsight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churns least (8.8%) yet loses the most revenue ($7.31M). Small, monthly-billed Basic accounts churn most. Annual contracts retain better (10.2% vs 17.5%).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Churn Risk Scoring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are scored with SQL rules and sorted by MRR so the biggest accounts get attention first.</a:t>
            </a:r>
            <a:endParaRPr lang="en-US" sz="1400" dirty="0"/>
          </a:p>
        </p:txBody>
      </p:sp>
      <p:sp>
        <p:nvSpPr>
          <p:cNvPr id="4" name="risk0"/>
          <p:cNvSpPr/>
          <p:nvPr/>
        </p:nvSpPr>
        <p:spPr>
          <a:xfrm>
            <a:off x="457200" y="16916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more than 30 days, or fewer than 3 logins a month, or CSAT of 2 or less, or 2+ failed payments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outreach</a:t>
            </a:r>
            <a:endParaRPr lang="en-US" sz="1300" dirty="0"/>
          </a:p>
        </p:txBody>
      </p:sp>
      <p:sp>
        <p:nvSpPr>
          <p:cNvPr id="10" name="risk1"/>
          <p:cNvSpPr/>
          <p:nvPr/>
        </p:nvSpPr>
        <p:spPr>
          <a:xfrm>
            <a:off x="3291840" y="16916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6052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15 to 30 days, or CSAT of 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9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check-in</a:t>
            </a:r>
            <a:endParaRPr lang="en-US" sz="1300" dirty="0"/>
          </a:p>
        </p:txBody>
      </p:sp>
      <p:sp>
        <p:nvSpPr>
          <p:cNvPr id="16" name="risk2"/>
          <p:cNvSpPr/>
          <p:nvPr/>
        </p:nvSpPr>
        <p:spPr>
          <a:xfrm>
            <a:off x="6126480" y="16916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182880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9659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9516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Engaged, satisfied, payments stable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monitoring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Vulnerable Segment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onboarding status x billing cycle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not completed</a:t>
            </a:r>
            <a:endParaRPr lang="en-US" sz="1400" dirty="0"/>
          </a:p>
        </p:txBody>
      </p:sp>
      <p:sp>
        <p:nvSpPr>
          <p:cNvPr id="7" name="cell"/>
          <p:cNvSpPr/>
          <p:nvPr/>
        </p:nvSpPr>
        <p:spPr>
          <a:xfrm>
            <a:off x="3200400" y="196596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E8793A"/>
          </a:solidFill>
          <a:ln w="12700">
            <a:solidFill>
              <a:srgbClr val="E879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30.2%</a:t>
            </a:r>
            <a:endParaRPr lang="en-US" sz="2600" dirty="0"/>
          </a:p>
        </p:txBody>
      </p:sp>
      <p:sp>
        <p:nvSpPr>
          <p:cNvPr id="9" name="cell"/>
          <p:cNvSpPr/>
          <p:nvPr/>
        </p:nvSpPr>
        <p:spPr>
          <a:xfrm>
            <a:off x="4937760" y="196596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44.5%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completed</a:t>
            </a:r>
            <a:endParaRPr lang="en-US" sz="1400" dirty="0"/>
          </a:p>
        </p:txBody>
      </p:sp>
      <p:sp>
        <p:nvSpPr>
          <p:cNvPr id="12" name="cell"/>
          <p:cNvSpPr/>
          <p:nvPr/>
        </p:nvSpPr>
        <p:spPr>
          <a:xfrm>
            <a:off x="3200400" y="32004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2600" dirty="0"/>
          </a:p>
        </p:txBody>
      </p:sp>
      <p:sp>
        <p:nvSpPr>
          <p:cNvPr id="14" name="cell"/>
          <p:cNvSpPr/>
          <p:nvPr/>
        </p:nvSpPr>
        <p:spPr>
          <a:xfrm>
            <a:off x="4937760" y="32004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2600" dirty="0"/>
          </a:p>
        </p:txBody>
      </p:sp>
      <p:sp>
        <p:nvSpPr>
          <p:cNvPr id="16" name="combo"/>
          <p:cNvSpPr/>
          <p:nvPr/>
        </p:nvSpPr>
        <p:spPr>
          <a:xfrm>
            <a:off x="6858000" y="1508760"/>
            <a:ext cx="1828800" cy="2606040"/>
          </a:xfrm>
          <a:prstGeom prst="roundRect">
            <a:avLst>
              <a:gd name="adj" fmla="val 4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16459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 + no onboarding: 44.5% churn, about 10x the best segment.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</a:t>
            </a:r>
            <a:endParaRPr lang="en-US" sz="2800" dirty="0"/>
          </a:p>
        </p:txBody>
      </p:sp>
      <p:pic>
        <p:nvPicPr>
          <p:cNvPr id="3" name="dashboard" descr="dash-1.png"/>
          <p:cNvPicPr>
            <a:picLocks noChangeAspect="1"/>
          </p:cNvPicPr>
          <p:nvPr/>
        </p:nvPicPr>
        <p:blipFill>
          <a:blip r:embed="rId3"/>
          <a:srcRect t="-3378" b="-3378"/>
          <a:stretch/>
        </p:blipFill>
        <p:spPr>
          <a:xfrm>
            <a:off x="822960" y="1005840"/>
            <a:ext cx="7498080" cy="3611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churn drivers, tenure curve, plan impact, ticket volume, onboarding and risk breakdown, with filters for plan, industry, channel and billing cycle.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rec0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37617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onboarding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and a check-in call in the first 30 days; make completion a priority.</a:t>
            </a:r>
            <a:endParaRPr lang="en-US" sz="1200" dirty="0"/>
          </a:p>
        </p:txBody>
      </p:sp>
      <p:sp>
        <p:nvSpPr>
          <p:cNvPr id="8" name="rec1"/>
          <p:cNvSpPr/>
          <p:nvPr/>
        </p:nvSpPr>
        <p:spPr>
          <a:xfrm>
            <a:off x="329184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26187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37617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annual plans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discount to move monthly customers to annual billing.</a:t>
            </a:r>
            <a:endParaRPr lang="en-US" sz="1200" dirty="0"/>
          </a:p>
        </p:txBody>
      </p:sp>
      <p:sp>
        <p:nvSpPr>
          <p:cNvPr id="13" name="rec2"/>
          <p:cNvSpPr/>
          <p:nvPr/>
        </p:nvSpPr>
        <p:spPr>
          <a:xfrm>
            <a:off x="612648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261872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37617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risk scores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contacts High Risk accounts first, ordered by MRR.</a:t>
            </a:r>
            <a:endParaRPr lang="en-US" sz="1200" dirty="0"/>
          </a:p>
        </p:txBody>
      </p:sp>
      <p:sp>
        <p:nvSpPr>
          <p:cNvPr id="18" name="rec3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15925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support SLAs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accounts with 4+ tickets and slow resolution.</a:t>
            </a:r>
            <a:endParaRPr lang="en-US" sz="1200" dirty="0"/>
          </a:p>
        </p:txBody>
      </p:sp>
      <p:sp>
        <p:nvSpPr>
          <p:cNvPr id="23" name="rec4"/>
          <p:cNvSpPr/>
          <p:nvPr/>
        </p:nvSpPr>
        <p:spPr>
          <a:xfrm>
            <a:off x="329184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3044952"/>
            <a:ext cx="457200" cy="457200"/>
          </a:xfrm>
          <a:prstGeom prst="ellipse">
            <a:avLst/>
          </a:prstGeom>
          <a:solidFill>
            <a:srgbClr val="5DB85C"/>
          </a:solidFill>
          <a:ln w="12700">
            <a:solidFill>
              <a:srgbClr val="5DB85C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020" y="315925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adoption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and feature nudges, team training, or downsell offers for unused licences.</a:t>
            </a:r>
            <a:endParaRPr lang="en-US" sz="1200" dirty="0"/>
          </a:p>
        </p:txBody>
      </p:sp>
      <p:sp>
        <p:nvSpPr>
          <p:cNvPr id="28" name="rec5"/>
          <p:cNvSpPr/>
          <p:nvPr/>
        </p:nvSpPr>
        <p:spPr>
          <a:xfrm>
            <a:off x="612648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09360" y="3044952"/>
            <a:ext cx="457200" cy="457200"/>
          </a:xfrm>
          <a:prstGeom prst="ellipse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60" y="315925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063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value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657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pricing objections by showing ROI; use low-touch automation for small accounts.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6787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8067" y="169961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Data Analyst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438912" cy="43891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6148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2651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ysunny7600@gmail.com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438912" cy="43891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55848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32461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github.com/Sunny7600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840480"/>
            <a:ext cx="438912" cy="43891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95020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8404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linkedin.com/in/sunny-yadav-180ba2227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45628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SQL, Python notebook, Power BI file and dataset are on my GitHub.</a:t>
            </a:r>
            <a:endParaRPr lang="en-US" sz="1200" dirty="0"/>
          </a:p>
        </p:txBody>
      </p:sp>
      <p:sp>
        <p:nvSpPr>
          <p:cNvPr id="14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58064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/>
              <a:t> 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">
  <a:themeElements>
    <a:clrScheme name="Churn">
      <a:dk1>
        <a:srgbClr val="1B2A3A"/>
      </a:dk1>
      <a:lt1>
        <a:srgbClr val="FFFFFF"/>
      </a:lt1>
      <a:dk2>
        <a:srgbClr val="0F2A43"/>
      </a:dk2>
      <a:lt2>
        <a:srgbClr val="EEF4F6"/>
      </a:lt2>
      <a:accent1>
        <a:srgbClr val="1B998B"/>
      </a:accent1>
      <a:accent2>
        <a:srgbClr val="E4572E"/>
      </a:accent2>
      <a:accent3>
        <a:srgbClr val="F2A541"/>
      </a:accent3>
      <a:accent4>
        <a:srgbClr val="2E86AB"/>
      </a:accent4>
      <a:accent5>
        <a:srgbClr val="5DB85C"/>
      </a:accent5>
      <a:accent6>
        <a:srgbClr val="5B6B7B"/>
      </a:accent6>
      <a:hlink>
        <a:srgbClr val="2E86AB"/>
      </a:hlink>
      <a:folHlink>
        <a:srgbClr val="5B6B7B"/>
      </a:folHlink>
    </a:clrScheme>
    <a:fontScheme name="Chur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908</Words>
  <Application>Microsoft Office PowerPoint</Application>
  <PresentationFormat>On-screen Show (16:9)</PresentationFormat>
  <Paragraphs>188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Churn</vt:lpstr>
      <vt:lpstr>PowerPoint Presentation</vt:lpstr>
      <vt:lpstr>The Business Problem</vt:lpstr>
      <vt:lpstr>Dataset and Tools</vt:lpstr>
      <vt:lpstr>Data Cleaning with Python</vt:lpstr>
      <vt:lpstr>Headline KPIs</vt:lpstr>
      <vt:lpstr>Why Customers Churn</vt:lpstr>
      <vt:lpstr>Early Tenure and Onboarding Are the Danger Zone</vt:lpstr>
      <vt:lpstr>Engagement, Features and Seat Usage</vt:lpstr>
      <vt:lpstr>Support Experience and Satisfaction</vt:lpstr>
      <vt:lpstr>Churn by Plan, Billing and Company Size</vt:lpstr>
      <vt:lpstr>Early Warning: Churn Risk Scoring</vt:lpstr>
      <vt:lpstr>The Most Vulnerable Segment</vt:lpstr>
      <vt:lpstr>Power BI Executive Dashboard</vt:lpstr>
      <vt:lpstr>Recommendations</vt:lpstr>
      <vt:lpstr>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 Customer Churn Analysis</dc:title>
  <dc:subject>PptxGenJS Presentation</dc:subject>
  <dc:creator>Sunny Yadav</dc:creator>
  <cp:lastModifiedBy>Sunny Yadav</cp:lastModifiedBy>
  <cp:revision>1</cp:revision>
  <dcterms:created xsi:type="dcterms:W3CDTF">2026-10-25T14:46:42Z</dcterms:created>
  <dcterms:modified xsi:type="dcterms:W3CDTF">2026-10-25T14:51:16Z</dcterms:modified>
</cp:coreProperties>
</file>